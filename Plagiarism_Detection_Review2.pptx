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0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8.png"/><Relationship Id="rId10" Type="http://schemas.openxmlformats.org/officeDocument/2006/relationships/image" Target="../media/image-12-8.png"/><Relationship Id="rId11" Type="http://schemas.openxmlformats.org/officeDocument/2006/relationships/image" Target="../media/image-12-8.png"/><Relationship Id="rId12" Type="http://schemas.openxmlformats.org/officeDocument/2006/relationships/image" Target="../media/image-12-8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2.png"/><Relationship Id="rId5" Type="http://schemas.openxmlformats.org/officeDocument/2006/relationships/image" Target="../media/image-13-5.png"/><Relationship Id="rId6" Type="http://schemas.openxmlformats.org/officeDocument/2006/relationships/image" Target="../media/image-13-2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8.png"/><Relationship Id="rId10" Type="http://schemas.openxmlformats.org/officeDocument/2006/relationships/image" Target="../media/image-13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94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 ·   KLH UNIVERSITY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730545" y="105156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/home/claude/work/assets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0740" y="1241755"/>
            <a:ext cx="351130" cy="3511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PLAGIARISM DETECTION SYSTEM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097280" y="278892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DSA-Based Approach to Detect Textual Similarity and Content Originality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68884" y="370332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2505A"/>
          </a:solidFill>
          <a:ln w="12700">
            <a:solidFill>
              <a:srgbClr val="0C5A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3476" y="3831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2510030213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3476" y="41239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 Gayathri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39516" y="370332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2505A"/>
          </a:solidFill>
          <a:ln w="12700">
            <a:solidFill>
              <a:srgbClr val="0C5A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04108" y="3831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2510030285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04108" y="41239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Chakrika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0148" y="370332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2505A"/>
          </a:solidFill>
          <a:ln w="12700">
            <a:solidFill>
              <a:srgbClr val="0C5A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74740" y="3831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2510030109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74740" y="41239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Srivalli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980780" y="3703320"/>
            <a:ext cx="2542032" cy="1051560"/>
          </a:xfrm>
          <a:prstGeom prst="roundRect">
            <a:avLst>
              <a:gd name="adj" fmla="val 6957"/>
            </a:avLst>
          </a:prstGeom>
          <a:solidFill>
            <a:srgbClr val="02505A"/>
          </a:solidFill>
          <a:ln w="12700">
            <a:solidFill>
              <a:srgbClr val="0C5A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5372" y="3831336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D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2510030376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5372" y="412394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Chandana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0" y="50749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TEXT ANALYSIS  ·  STRING MATCHING  ·  SIMILARITY SCORING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230368" y="5989320"/>
            <a:ext cx="1737360" cy="411480"/>
          </a:xfrm>
          <a:prstGeom prst="roundRect">
            <a:avLst>
              <a:gd name="adj" fmla="val 48889"/>
            </a:avLst>
          </a:prstGeom>
          <a:solidFill>
            <a:srgbClr val="02C39A"/>
          </a:solidFill>
          <a:ln/>
        </p:spPr>
      </p:sp>
      <p:sp>
        <p:nvSpPr>
          <p:cNvPr id="21" name="Text 18"/>
          <p:cNvSpPr/>
          <p:nvPr/>
        </p:nvSpPr>
        <p:spPr>
          <a:xfrm>
            <a:off x="5230368" y="5989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plagiarism checking is slow and error-prone. Academic and content platforms need an automated way to measure how similar one document is to another, and flag copied or paraphrased text.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pic>
        <p:nvPicPr>
          <p:cNvPr id="9" name="Image 0" descr="/home/claude/work/assets/ic_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4553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1272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submitted document against reference sources</a:t>
            </a:r>
            <a:endParaRPr lang="en-US" sz="1250" dirty="0"/>
          </a:p>
        </p:txBody>
      </p:sp>
      <p:pic>
        <p:nvPicPr>
          <p:cNvPr id="11" name="Image 1" descr="/home/claude/work/assets/ic_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66160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5478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multiple DSA techniques for robust matching</a:t>
            </a:r>
            <a:endParaRPr lang="en-US" sz="1250" dirty="0"/>
          </a:p>
        </p:txBody>
      </p:sp>
      <p:pic>
        <p:nvPicPr>
          <p:cNvPr id="13" name="Image 2" descr="/home/claude/work/assets/ic_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8678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9684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quantified similarity / originality score</a:t>
            </a:r>
            <a:endParaRPr lang="en-US" sz="1250" dirty="0"/>
          </a:p>
        </p:txBody>
      </p:sp>
      <p:pic>
        <p:nvPicPr>
          <p:cNvPr id="15" name="Image 3" descr="/home/claude/work/assets/ic_che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07408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438912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matched phrases and their likely source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5989320" y="1508760"/>
            <a:ext cx="5742432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2636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63640" y="20848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/home/claude/work/assets/ic_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203704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858000" y="2066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Input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858000" y="230428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 text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492240" y="2542032"/>
            <a:ext cx="0" cy="256032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63640" y="268833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5" name="Image 5" descr="/home/claude/work/assets/ic_fil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2807208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580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858000" y="290779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tokenize, normalize</a:t>
            </a:r>
            <a:endParaRPr lang="en-US" sz="1050" dirty="0"/>
          </a:p>
        </p:txBody>
      </p:sp>
      <p:sp>
        <p:nvSpPr>
          <p:cNvPr id="28" name="Shape 20"/>
          <p:cNvSpPr/>
          <p:nvPr/>
        </p:nvSpPr>
        <p:spPr>
          <a:xfrm>
            <a:off x="6492240" y="3145536"/>
            <a:ext cx="0" cy="256032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63640" y="3291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6" descr="/home/claude/work/assets/ic_chi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410712"/>
            <a:ext cx="219456" cy="21945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58000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Algorithms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6858000" y="3511296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compare, score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6492240" y="3749040"/>
            <a:ext cx="0" cy="256032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263640" y="389534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5" name="Image 7" descr="/home/claude/work/assets/ic_gau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4014216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858000" y="38770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6858000" y="4114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result out of 100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6492240" y="4352544"/>
            <a:ext cx="0" cy="256032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6263640" y="4498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0" name="Image 8" descr="/home/claude/work/assets/ic_clip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617720"/>
            <a:ext cx="219456" cy="21945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85800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</p:txBody>
      </p:sp>
      <p:sp>
        <p:nvSpPr>
          <p:cNvPr id="42" name="Text 31"/>
          <p:cNvSpPr/>
          <p:nvPr/>
        </p:nvSpPr>
        <p:spPr>
          <a:xfrm>
            <a:off x="6858000" y="4718304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sources &amp; summary</a:t>
            </a:r>
            <a:endParaRPr lang="en-US" sz="1050" dirty="0"/>
          </a:p>
        </p:txBody>
      </p:sp>
      <p:sp>
        <p:nvSpPr>
          <p:cNvPr id="43" name="Shape 32"/>
          <p:cNvSpPr/>
          <p:nvPr/>
        </p:nvSpPr>
        <p:spPr>
          <a:xfrm>
            <a:off x="457200" y="5257800"/>
            <a:ext cx="11274552" cy="512064"/>
          </a:xfrm>
          <a:prstGeom prst="roundRect">
            <a:avLst>
              <a:gd name="adj" fmla="val 17857"/>
            </a:avLst>
          </a:prstGeom>
          <a:solidFill>
            <a:srgbClr val="013A40"/>
          </a:solidFill>
          <a:ln/>
        </p:spPr>
      </p:sp>
      <p:pic>
        <p:nvPicPr>
          <p:cNvPr id="44" name="Image 9" descr="/home/claude/work/assets/ic_bulb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358384"/>
            <a:ext cx="310896" cy="310896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1051560" y="525780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similarity using Rabin-Karp, LCS, Cosine Similarity, N-Gram and Jaccard techniques from DSA.</a:t>
            </a:r>
            <a:endParaRPr lang="en-US" sz="1300" dirty="0"/>
          </a:p>
        </p:txBody>
      </p:sp>
      <p:sp>
        <p:nvSpPr>
          <p:cNvPr id="46" name="Text 3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47" name="Text 35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REVIEW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90548" y="2377440"/>
            <a:ext cx="8610600" cy="0"/>
          </a:xfrm>
          <a:prstGeom prst="line">
            <a:avLst/>
          </a:prstGeom>
          <a:noFill/>
          <a:ln w="25400">
            <a:solidFill>
              <a:srgbClr val="DC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4788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0" descr="/home/claude/work/assets/ic_t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983" y="2201875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1330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Setup</a:t>
            </a:r>
            <a:endParaRPr lang="en-US" sz="1200" dirty="0"/>
          </a:p>
        </p:txBody>
      </p:sp>
      <p:pic>
        <p:nvPicPr>
          <p:cNvPr id="10" name="Image 1" descr="/home/claude/work/assets/ic_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16" y="1874520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46908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2" descr="/home/claude/work/assets/ic_uplo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103" y="220187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3542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pic>
        <p:nvPicPr>
          <p:cNvPr id="14" name="Image 3" descr="/home/claude/work/assets/ic_che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3836" y="1874520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869028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4" descr="/home/claude/work/assets/ic_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223" y="2201875"/>
            <a:ext cx="351130" cy="3511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5754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pic>
        <p:nvPicPr>
          <p:cNvPr id="18" name="Image 5" descr="/home/claude/work/assets/ic_chec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5956" y="1874520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6591148" y="2011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0" name="Image 6" descr="/home/claude/work/assets/ic_chi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343" y="2201875"/>
            <a:ext cx="351130" cy="35113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17966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Algorithms</a:t>
            </a:r>
            <a:endParaRPr lang="en-US" sz="1200" dirty="0"/>
          </a:p>
        </p:txBody>
      </p:sp>
      <p:pic>
        <p:nvPicPr>
          <p:cNvPr id="22" name="Image 7" descr="/home/claude/work/assets/ic_check_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8076" y="1874520"/>
            <a:ext cx="256032" cy="256032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313268" y="2011680"/>
            <a:ext cx="731520" cy="731520"/>
          </a:xfrm>
          <a:prstGeom prst="ellipse">
            <a:avLst/>
          </a:prstGeom>
          <a:solidFill>
            <a:srgbClr val="B9CFCF"/>
          </a:solidFill>
          <a:ln/>
        </p:spPr>
      </p:sp>
      <p:pic>
        <p:nvPicPr>
          <p:cNvPr id="24" name="Image 8" descr="/home/claude/work/assets/ic_gau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463" y="2201875"/>
            <a:ext cx="351130" cy="35113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90178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</a:t>
            </a:r>
            <a:endParaRPr lang="en-US" sz="1200" dirty="0"/>
          </a:p>
        </p:txBody>
      </p:sp>
      <p:pic>
        <p:nvPicPr>
          <p:cNvPr id="26" name="Image 9" descr="/home/claude/work/assets/ic_cl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80196" y="1874520"/>
            <a:ext cx="256032" cy="256032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10035388" y="2011680"/>
            <a:ext cx="731520" cy="731520"/>
          </a:xfrm>
          <a:prstGeom prst="ellipse">
            <a:avLst/>
          </a:prstGeom>
          <a:solidFill>
            <a:srgbClr val="B9CFCF"/>
          </a:solidFill>
          <a:ln/>
        </p:spPr>
      </p:sp>
      <p:pic>
        <p:nvPicPr>
          <p:cNvPr id="28" name="Image 10" descr="/home/claude/work/assets/ic_flag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25583" y="2201875"/>
            <a:ext cx="351130" cy="35113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9623908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Testing</a:t>
            </a:r>
            <a:endParaRPr lang="en-US" sz="1200" dirty="0"/>
          </a:p>
        </p:txBody>
      </p:sp>
      <p:pic>
        <p:nvPicPr>
          <p:cNvPr id="30" name="Image 11" descr="/home/claude/work/assets/ic_clock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02316" y="1874520"/>
            <a:ext cx="256032" cy="256032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00" dirty="0"/>
          </a:p>
        </p:txBody>
      </p:sp>
      <p:sp>
        <p:nvSpPr>
          <p:cNvPr id="32" name="Shape 18"/>
          <p:cNvSpPr/>
          <p:nvPr/>
        </p:nvSpPr>
        <p:spPr>
          <a:xfrm>
            <a:off x="548640" y="4581144"/>
            <a:ext cx="128016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3" name="Text 19"/>
          <p:cNvSpPr/>
          <p:nvPr/>
        </p:nvSpPr>
        <p:spPr>
          <a:xfrm>
            <a:off x="82296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Completed:</a:t>
            </a:r>
            <a:endParaRPr lang="en-US" sz="1200" dirty="0"/>
          </a:p>
        </p:txBody>
      </p:sp>
      <p:sp>
        <p:nvSpPr>
          <p:cNvPr id="34" name="Text 20"/>
          <p:cNvSpPr/>
          <p:nvPr/>
        </p:nvSpPr>
        <p:spPr>
          <a:xfrm>
            <a:off x="22860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 milestones</a:t>
            </a:r>
            <a:endParaRPr lang="en-US" sz="1200" dirty="0"/>
          </a:p>
        </p:txBody>
      </p:sp>
      <p:sp>
        <p:nvSpPr>
          <p:cNvPr id="35" name="Shape 21"/>
          <p:cNvSpPr/>
          <p:nvPr/>
        </p:nvSpPr>
        <p:spPr>
          <a:xfrm>
            <a:off x="548640" y="4946904"/>
            <a:ext cx="128016" cy="128016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6" name="Text 22"/>
          <p:cNvSpPr/>
          <p:nvPr/>
        </p:nvSpPr>
        <p:spPr>
          <a:xfrm>
            <a:off x="822960" y="4892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</a:t>
            </a:r>
            <a:endParaRPr lang="en-US" sz="1200" dirty="0"/>
          </a:p>
        </p:txBody>
      </p:sp>
      <p:sp>
        <p:nvSpPr>
          <p:cNvPr id="37" name="Text 23"/>
          <p:cNvSpPr/>
          <p:nvPr/>
        </p:nvSpPr>
        <p:spPr>
          <a:xfrm>
            <a:off x="228600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scoring engine</a:t>
            </a:r>
            <a:endParaRPr lang="en-US" sz="1200" dirty="0"/>
          </a:p>
        </p:txBody>
      </p:sp>
      <p:sp>
        <p:nvSpPr>
          <p:cNvPr id="38" name="Shape 24"/>
          <p:cNvSpPr/>
          <p:nvPr/>
        </p:nvSpPr>
        <p:spPr>
          <a:xfrm>
            <a:off x="548640" y="5312664"/>
            <a:ext cx="128016" cy="128016"/>
          </a:xfrm>
          <a:prstGeom prst="rect">
            <a:avLst/>
          </a:prstGeom>
          <a:solidFill>
            <a:srgbClr val="5B7A7D"/>
          </a:solidFill>
          <a:ln/>
        </p:spPr>
      </p:sp>
      <p:sp>
        <p:nvSpPr>
          <p:cNvPr id="39" name="Text 25"/>
          <p:cNvSpPr/>
          <p:nvPr/>
        </p:nvSpPr>
        <p:spPr>
          <a:xfrm>
            <a:off x="822960" y="5257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Upcoming:</a:t>
            </a:r>
            <a:endParaRPr lang="en-US" sz="1200" dirty="0"/>
          </a:p>
        </p:txBody>
      </p:sp>
      <p:sp>
        <p:nvSpPr>
          <p:cNvPr id="40" name="Text 26"/>
          <p:cNvSpPr/>
          <p:nvPr/>
        </p:nvSpPr>
        <p:spPr>
          <a:xfrm>
            <a:off x="2286000" y="5257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final report</a:t>
            </a:r>
            <a:endParaRPr lang="en-US" sz="1200" dirty="0"/>
          </a:p>
        </p:txBody>
      </p:sp>
      <p:sp>
        <p:nvSpPr>
          <p:cNvPr id="41" name="Shape 27"/>
          <p:cNvSpPr/>
          <p:nvPr/>
        </p:nvSpPr>
        <p:spPr>
          <a:xfrm>
            <a:off x="457200" y="5532120"/>
            <a:ext cx="11274552" cy="512064"/>
          </a:xfrm>
          <a:prstGeom prst="roundRect">
            <a:avLst>
              <a:gd name="adj" fmla="val 17857"/>
            </a:avLst>
          </a:prstGeom>
          <a:solidFill>
            <a:srgbClr val="013A40"/>
          </a:solidFill>
          <a:ln/>
        </p:spPr>
      </p:sp>
      <p:pic>
        <p:nvPicPr>
          <p:cNvPr id="42" name="Image 12" descr="/home/claude/work/assets/ic_bul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" y="5632704"/>
            <a:ext cx="310896" cy="310896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1051560" y="553212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 implemented; scoring engine integration and final refinement are in progress.</a:t>
            </a:r>
            <a:endParaRPr lang="en-US" sz="1300" dirty="0"/>
          </a:p>
        </p:txBody>
      </p:sp>
      <p:sp>
        <p:nvSpPr>
          <p:cNvPr id="44" name="Text 2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45" name="Text 30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706728" y="1600200"/>
            <a:ext cx="8778240" cy="603504"/>
          </a:xfrm>
          <a:prstGeom prst="roundRect">
            <a:avLst>
              <a:gd name="adj" fmla="val 12121"/>
            </a:avLst>
          </a:prstGeom>
          <a:solidFill>
            <a:srgbClr val="028090"/>
          </a:solidFill>
          <a:ln/>
        </p:spPr>
      </p:sp>
      <p:pic>
        <p:nvPicPr>
          <p:cNvPr id="7" name="Image 0" descr="/home/claude/work/assets/ic_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032" y="17282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28520" y="1655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135728" y="1655064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for document upload &amp; report view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95848" y="2203704"/>
            <a:ext cx="0" cy="137160"/>
          </a:xfrm>
          <a:prstGeom prst="line">
            <a:avLst/>
          </a:prstGeom>
          <a:noFill/>
          <a:ln w="15875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706728" y="2340864"/>
            <a:ext cx="8778240" cy="603504"/>
          </a:xfrm>
          <a:prstGeom prst="roundRect">
            <a:avLst>
              <a:gd name="adj" fmla="val 12121"/>
            </a:avLst>
          </a:prstGeom>
          <a:solidFill>
            <a:srgbClr val="02505A"/>
          </a:solidFill>
          <a:ln/>
        </p:spPr>
      </p:sp>
      <p:pic>
        <p:nvPicPr>
          <p:cNvPr id="12" name="Image 1" descr="/home/claude/work/assets/ic_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032" y="246888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28520" y="239572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Handler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135728" y="2395728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files / pasted text, validates format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95848" y="2944368"/>
            <a:ext cx="0" cy="137160"/>
          </a:xfrm>
          <a:prstGeom prst="line">
            <a:avLst/>
          </a:prstGeom>
          <a:noFill/>
          <a:ln w="15875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706728" y="3081528"/>
            <a:ext cx="8778240" cy="603504"/>
          </a:xfrm>
          <a:prstGeom prst="roundRect">
            <a:avLst>
              <a:gd name="adj" fmla="val 12121"/>
            </a:avLst>
          </a:prstGeom>
          <a:solidFill>
            <a:srgbClr val="028090"/>
          </a:solidFill>
          <a:ln/>
        </p:spPr>
      </p:sp>
      <p:pic>
        <p:nvPicPr>
          <p:cNvPr id="17" name="Image 2" descr="/home/claude/work/assets/ic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032" y="320954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28520" y="313639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Module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135728" y="3136392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Tokenization, stopword removal, stemming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095848" y="3685032"/>
            <a:ext cx="0" cy="137160"/>
          </a:xfrm>
          <a:prstGeom prst="line">
            <a:avLst/>
          </a:prstGeom>
          <a:noFill/>
          <a:ln w="15875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1706728" y="3822192"/>
            <a:ext cx="8778240" cy="603504"/>
          </a:xfrm>
          <a:prstGeom prst="roundRect">
            <a:avLst>
              <a:gd name="adj" fmla="val 12121"/>
            </a:avLst>
          </a:prstGeom>
          <a:solidFill>
            <a:srgbClr val="02505A"/>
          </a:solidFill>
          <a:ln/>
        </p:spPr>
      </p:sp>
      <p:pic>
        <p:nvPicPr>
          <p:cNvPr id="22" name="Image 3" descr="/home/claude/work/assets/ic_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032" y="395020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328520" y="387705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Algorithm Engine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135728" y="3877056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Rabin-Karp, LCS, N-Gram, Cosine, Jaccard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095848" y="4425696"/>
            <a:ext cx="0" cy="137160"/>
          </a:xfrm>
          <a:prstGeom prst="line">
            <a:avLst/>
          </a:prstGeom>
          <a:noFill/>
          <a:ln w="15875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1706728" y="4562856"/>
            <a:ext cx="8778240" cy="603504"/>
          </a:xfrm>
          <a:prstGeom prst="roundRect">
            <a:avLst>
              <a:gd name="adj" fmla="val 12121"/>
            </a:avLst>
          </a:prstGeom>
          <a:solidFill>
            <a:srgbClr val="028090"/>
          </a:solidFill>
          <a:ln/>
        </p:spPr>
      </p:sp>
      <p:pic>
        <p:nvPicPr>
          <p:cNvPr id="27" name="Image 4" descr="/home/claude/work/assets/ic_gau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3032" y="469087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328520" y="46177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Ranking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135728" y="4617720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similarity score computation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095848" y="5166360"/>
            <a:ext cx="0" cy="137160"/>
          </a:xfrm>
          <a:prstGeom prst="line">
            <a:avLst/>
          </a:prstGeom>
          <a:noFill/>
          <a:ln w="15875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1706728" y="5303520"/>
            <a:ext cx="8778240" cy="603504"/>
          </a:xfrm>
          <a:prstGeom prst="roundRect">
            <a:avLst>
              <a:gd name="adj" fmla="val 12121"/>
            </a:avLst>
          </a:prstGeom>
          <a:solidFill>
            <a:srgbClr val="02505A"/>
          </a:solidFill>
          <a:ln/>
        </p:spPr>
      </p:sp>
      <p:pic>
        <p:nvPicPr>
          <p:cNvPr id="32" name="Image 5" descr="/home/claude/work/assets/ic_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3032" y="5431536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328520" y="535838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Generator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135728" y="5358384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matches &amp; originality summary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PREPROCESSING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Preprocessing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97510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0" descr="/home/claude/work/assets/ic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93976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87452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File (.txt)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79806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/home/claude/work/assets/ic_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916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69748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 (.docx/.pdf)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520440"/>
            <a:ext cx="42976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362102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work/assets/ic_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73989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52044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Pasted Text / URL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578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257800" y="187452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21" name="Shape 16"/>
          <p:cNvSpPr/>
          <p:nvPr/>
        </p:nvSpPr>
        <p:spPr>
          <a:xfrm>
            <a:off x="5394960" y="1975104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22" name="Image 3" descr="/home/claude/work/assets/ic_c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832" y="209397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89320" y="19476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989320" y="22219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text into words/sentences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257800" y="269748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26" name="Shape 20"/>
          <p:cNvSpPr/>
          <p:nvPr/>
        </p:nvSpPr>
        <p:spPr>
          <a:xfrm>
            <a:off x="5394960" y="2798064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27" name="Image 4" descr="/home/claude/work/assets/ic_fil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832" y="2916936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89320" y="27706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Stopword Removal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989320" y="304495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common filler words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257800" y="352044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</p:spPr>
      </p:sp>
      <p:sp>
        <p:nvSpPr>
          <p:cNvPr id="31" name="Shape 24"/>
          <p:cNvSpPr/>
          <p:nvPr/>
        </p:nvSpPr>
        <p:spPr>
          <a:xfrm>
            <a:off x="5394960" y="3621024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32" name="Image 5" descr="/home/claude/work/assets/ic_spell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3832" y="373989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989320" y="359359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Stemming / Lemmatization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989320" y="38679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words to root form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5257800" y="4343400"/>
            <a:ext cx="6309360" cy="658368"/>
          </a:xfrm>
          <a:prstGeom prst="roundRect">
            <a:avLst>
              <a:gd name="adj" fmla="val 11111"/>
            </a:avLst>
          </a:prstGeom>
          <a:solidFill>
            <a:srgbClr val="00A896"/>
          </a:solidFill>
          <a:ln/>
        </p:spPr>
      </p:sp>
      <p:sp>
        <p:nvSpPr>
          <p:cNvPr id="36" name="Shape 28"/>
          <p:cNvSpPr/>
          <p:nvPr/>
        </p:nvSpPr>
        <p:spPr>
          <a:xfrm>
            <a:off x="5394960" y="4443984"/>
            <a:ext cx="457200" cy="45720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37" name="Image 6" descr="/home/claude/work/assets/ic_hashta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4562856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989320" y="44165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989320" y="469087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punctuation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457200" y="5394960"/>
            <a:ext cx="11274552" cy="512064"/>
          </a:xfrm>
          <a:prstGeom prst="roundRect">
            <a:avLst>
              <a:gd name="adj" fmla="val 17857"/>
            </a:avLst>
          </a:prstGeom>
          <a:solidFill>
            <a:srgbClr val="013A40"/>
          </a:solidFill>
          <a:ln/>
        </p:spPr>
      </p:sp>
      <p:pic>
        <p:nvPicPr>
          <p:cNvPr id="41" name="Image 7" descr="/home/claude/work/assets/ic_bul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495544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1051560" y="539496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clean, normalized text tokens ready for algorithmic comparison.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DSA Algorithms Implemented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21808" y="2926080"/>
            <a:ext cx="1554480" cy="1554480"/>
          </a:xfrm>
          <a:prstGeom prst="ellipse">
            <a:avLst/>
          </a:prstGeom>
          <a:solidFill>
            <a:srgbClr val="013A40"/>
          </a:solidFill>
          <a:ln/>
        </p:spPr>
      </p:sp>
      <p:pic>
        <p:nvPicPr>
          <p:cNvPr id="7" name="Image 0" descr="/home/claude/work/assets/ic_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5973" y="3330245"/>
            <a:ext cx="746150" cy="7461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93208" y="4553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6099048" y="1670609"/>
            <a:ext cx="0" cy="2032711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97296" y="1368857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work/assets/ic_hash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07" y="1525768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3208" y="202722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01768" y="2264969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substring search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 flipV="1">
            <a:off x="6099048" y="2686964"/>
            <a:ext cx="2256897" cy="1016356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54193" y="238521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work/assets/ic_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104" y="2542123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50105" y="30435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 Algorithm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7258665" y="32813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pattern matching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099048" y="3703320"/>
            <a:ext cx="2256897" cy="1016356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54193" y="441792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work/assets/ic_list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104" y="4574835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50105" y="50762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(DP)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7258665" y="53140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Common Subsequence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099048" y="3703320"/>
            <a:ext cx="0" cy="2032711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797296" y="5434279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work/assets/ic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4207" y="5591190"/>
            <a:ext cx="289682" cy="2896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93208" y="6092647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001768" y="6330391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Vector-based text comparison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 flipH="1">
            <a:off x="3842151" y="3703320"/>
            <a:ext cx="2256897" cy="1016356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540399" y="4417924"/>
            <a:ext cx="603504" cy="60350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work/assets/ic_fo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310" y="4574835"/>
            <a:ext cx="289682" cy="28968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36311" y="50762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Matching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2744871" y="531403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Phrase-level overlap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 flipH="1" flipV="1">
            <a:off x="3842151" y="2686964"/>
            <a:ext cx="2256897" cy="1016356"/>
          </a:xfrm>
          <a:prstGeom prst="line">
            <a:avLst/>
          </a:prstGeom>
          <a:noFill/>
          <a:ln w="19050">
            <a:solidFill>
              <a:srgbClr val="DCEAE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540399" y="2385212"/>
            <a:ext cx="603504" cy="60350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6" name="Image 6" descr="/home/claude/work/assets/ic_rand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7310" y="2542123"/>
            <a:ext cx="289682" cy="28968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2836311" y="30435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Similarity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2744871" y="328132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Set-based similarity index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Comparison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Document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737360" y="2148840"/>
            <a:ext cx="0" cy="320040"/>
          </a:xfrm>
          <a:prstGeom prst="line">
            <a:avLst/>
          </a:prstGeom>
          <a:noFill/>
          <a:ln w="19050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28600" y="2468880"/>
            <a:ext cx="3017520" cy="9144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2468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2926080"/>
            <a:ext cx="914400" cy="0"/>
          </a:xfrm>
          <a:prstGeom prst="line">
            <a:avLst/>
          </a:prstGeom>
          <a:noFill/>
          <a:ln w="19050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71800" y="26517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2606040"/>
            <a:ext cx="214884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as Copied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383280"/>
            <a:ext cx="0" cy="320040"/>
          </a:xfrm>
          <a:prstGeom prst="line">
            <a:avLst/>
          </a:prstGeom>
          <a:noFill/>
          <a:ln w="19050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783080" y="3401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703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Similarity Score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4251960"/>
            <a:ext cx="0" cy="320040"/>
          </a:xfrm>
          <a:prstGeom prst="line">
            <a:avLst/>
          </a:prstGeom>
          <a:noFill/>
          <a:ln w="19050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457200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45720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Classify: High / Moderate / Low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75120" y="1600200"/>
            <a:ext cx="50292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RESULTS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paragraph</a:t>
            </a:r>
            <a:endParaRPr lang="en-US" sz="1250" dirty="0"/>
          </a:p>
        </p:txBody>
      </p:sp>
      <p:pic>
        <p:nvPicPr>
          <p:cNvPr id="25" name="Image 0" descr="/home/claude/work/assets/ic_check_m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286000"/>
            <a:ext cx="274320" cy="2743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966960" y="2194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949440" y="28529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section</a:t>
            </a:r>
            <a:endParaRPr lang="en-US" sz="1250" dirty="0"/>
          </a:p>
        </p:txBody>
      </p:sp>
      <p:pic>
        <p:nvPicPr>
          <p:cNvPr id="28" name="Image 1" descr="/home/claude/work/assets/ic_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2944368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966960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 (68%)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949440" y="3511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discussion</a:t>
            </a:r>
            <a:endParaRPr lang="en-US" sz="1250" dirty="0"/>
          </a:p>
        </p:txBody>
      </p:sp>
      <p:pic>
        <p:nvPicPr>
          <p:cNvPr id="31" name="Image 2" descr="/home/claude/work/assets/ic_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3602736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966960" y="35112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Match (41%)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949440" y="41696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paragraph</a:t>
            </a:r>
            <a:endParaRPr lang="en-US" sz="1250" dirty="0"/>
          </a:p>
        </p:txBody>
      </p:sp>
      <p:pic>
        <p:nvPicPr>
          <p:cNvPr id="34" name="Image 3" descr="/home/claude/work/assets/ic_times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4261104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9966960" y="41696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Analysis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09848" y="15544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assets/ic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043" y="17446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83968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Document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483968" y="278892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21128" y="2788920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175608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483968" y="3319272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21128" y="3319272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Words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175608" y="3319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2483968" y="3849624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21128" y="3849624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175608" y="38496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2483968" y="4379976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21128" y="4379976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75608" y="4379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DB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650328" y="15544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1" descr="/home/claude/work/assets/ic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523" y="1744675"/>
            <a:ext cx="351130" cy="35113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24448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Document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324448" y="2788920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461608" y="2788920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Count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8016088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1,190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324448" y="3319272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61608" y="3319272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Words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016088" y="331927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324448" y="3849624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461608" y="3849624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016088" y="38496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324448" y="4379976"/>
            <a:ext cx="3383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61608" y="4379976"/>
            <a:ext cx="1860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016088" y="43799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5733288" y="2926080"/>
            <a:ext cx="731520" cy="731520"/>
          </a:xfrm>
          <a:prstGeom prst="ellipse">
            <a:avLst/>
          </a:prstGeom>
          <a:solidFill>
            <a:srgbClr val="013A40"/>
          </a:solidFill>
          <a:ln/>
        </p:spPr>
      </p:sp>
      <p:sp>
        <p:nvSpPr>
          <p:cNvPr id="37" name="Text 33"/>
          <p:cNvSpPr/>
          <p:nvPr/>
        </p:nvSpPr>
        <p:spPr>
          <a:xfrm>
            <a:off x="5733288" y="2926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OUTPUTS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518008" y="53949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pic>
        <p:nvPicPr>
          <p:cNvPr id="40" name="Image 2" descr="/home/claude/work/assets/ic_gau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4" y="5477256"/>
            <a:ext cx="384048" cy="38404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112368" y="5394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3352648" y="53949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pic>
        <p:nvPicPr>
          <p:cNvPr id="43" name="Image 3" descr="/home/claude/work/assets/ic_co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664" y="5477256"/>
            <a:ext cx="384048" cy="384048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3947008" y="5394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Phrases</a:t>
            </a:r>
            <a:endParaRPr lang="en-US" sz="1150" dirty="0"/>
          </a:p>
        </p:txBody>
      </p:sp>
      <p:sp>
        <p:nvSpPr>
          <p:cNvPr id="45" name="Shape 39"/>
          <p:cNvSpPr/>
          <p:nvPr/>
        </p:nvSpPr>
        <p:spPr>
          <a:xfrm>
            <a:off x="6187288" y="53949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pic>
        <p:nvPicPr>
          <p:cNvPr id="46" name="Image 4" descr="/home/claude/work/assets/ic_l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304" y="5477256"/>
            <a:ext cx="384048" cy="384048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781648" y="5394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References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9021928" y="5394960"/>
            <a:ext cx="2651760" cy="54864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pic>
        <p:nvPicPr>
          <p:cNvPr id="49" name="Image 5" descr="/home/claude/work/assets/ic_per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9944" y="5477256"/>
            <a:ext cx="384048" cy="38404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9616288" y="539496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 %</a:t>
            </a:r>
            <a:endParaRPr lang="en-US" sz="1150" dirty="0"/>
          </a:p>
        </p:txBody>
      </p:sp>
      <p:sp>
        <p:nvSpPr>
          <p:cNvPr id="51" name="Text 4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Similarity Scoring Engine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2600" y="1600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976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work/assets/ic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632" y="185623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4120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Score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9760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453232" y="1600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90392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work/assets/ic_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264" y="18562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84752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Score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90392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223864" y="1600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61024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work/assets/ic_f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96" y="1856232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55384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 Score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361024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2600" dirty="0"/>
          </a:p>
        </p:txBody>
      </p:sp>
      <p:sp>
        <p:nvSpPr>
          <p:cNvPr id="21" name="Shape 16"/>
          <p:cNvSpPr/>
          <p:nvPr/>
        </p:nvSpPr>
        <p:spPr>
          <a:xfrm>
            <a:off x="8994496" y="160020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31656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/home/claude/work/assets/ic_list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0528" y="18562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26016" y="17190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Score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131656" y="2103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</a:t>
            </a:r>
            <a:endParaRPr lang="en-US" sz="2600" dirty="0"/>
          </a:p>
        </p:txBody>
      </p:sp>
      <p:sp>
        <p:nvSpPr>
          <p:cNvPr id="26" name="Shape 20"/>
          <p:cNvSpPr/>
          <p:nvPr/>
        </p:nvSpPr>
        <p:spPr>
          <a:xfrm>
            <a:off x="6099048" y="2651760"/>
            <a:ext cx="0" cy="365760"/>
          </a:xfrm>
          <a:prstGeom prst="line">
            <a:avLst/>
          </a:prstGeom>
          <a:noFill/>
          <a:ln w="25400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4270248" y="3063240"/>
            <a:ext cx="3657600" cy="594360"/>
          </a:xfrm>
          <a:prstGeom prst="roundRect">
            <a:avLst>
              <a:gd name="adj" fmla="val 49231"/>
            </a:avLst>
          </a:prstGeom>
          <a:solidFill>
            <a:srgbClr val="013A40"/>
          </a:solidFill>
          <a:ln/>
        </p:spPr>
      </p:sp>
      <p:sp>
        <p:nvSpPr>
          <p:cNvPr id="28" name="Text 22"/>
          <p:cNvSpPr/>
          <p:nvPr/>
        </p:nvSpPr>
        <p:spPr>
          <a:xfrm>
            <a:off x="4270248" y="30632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Combination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6099048" y="3657600"/>
            <a:ext cx="0" cy="365760"/>
          </a:xfrm>
          <a:prstGeom prst="line">
            <a:avLst/>
          </a:prstGeom>
          <a:noFill/>
          <a:ln w="25400">
            <a:solidFill>
              <a:srgbClr val="5B7A7D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5184648" y="4069080"/>
            <a:ext cx="1828800" cy="182880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1" name="Text 25"/>
          <p:cNvSpPr/>
          <p:nvPr/>
        </p:nvSpPr>
        <p:spPr>
          <a:xfrm>
            <a:off x="5184648" y="4343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72.5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5184648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Score / 100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6172200"/>
            <a:ext cx="164592" cy="164592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34" name="Text 28"/>
          <p:cNvSpPr/>
          <p:nvPr/>
        </p:nvSpPr>
        <p:spPr>
          <a:xfrm>
            <a:off x="786384" y="6117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MATCH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2926080" y="6172200"/>
            <a:ext cx="164592" cy="164592"/>
          </a:xfrm>
          <a:prstGeom prst="roundRect">
            <a:avLst/>
          </a:prstGeom>
          <a:solidFill>
            <a:srgbClr val="F4A261"/>
          </a:solidFill>
          <a:ln/>
        </p:spPr>
      </p:sp>
      <p:sp>
        <p:nvSpPr>
          <p:cNvPr id="36" name="Text 30"/>
          <p:cNvSpPr/>
          <p:nvPr/>
        </p:nvSpPr>
        <p:spPr>
          <a:xfrm>
            <a:off x="3163824" y="6117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MATCH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303520" y="6172200"/>
            <a:ext cx="164592" cy="16459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38" name="Text 32"/>
          <p:cNvSpPr/>
          <p:nvPr/>
        </p:nvSpPr>
        <p:spPr>
          <a:xfrm>
            <a:off x="5541264" y="61173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MATCH</a:t>
            </a:r>
            <a:endParaRPr lang="en-US" sz="1050" dirty="0"/>
          </a:p>
        </p:txBody>
      </p:sp>
      <p:sp>
        <p:nvSpPr>
          <p:cNvPr id="39" name="Text 33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System Output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760720" cy="3520440"/>
          </a:xfrm>
          <a:prstGeom prst="roundRect">
            <a:avLst>
              <a:gd name="adj" fmla="val 2597"/>
            </a:avLst>
          </a:prstGeom>
          <a:solidFill>
            <a:srgbClr val="013A4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783080"/>
            <a:ext cx="128016" cy="128016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8" name="Shape 6"/>
          <p:cNvSpPr/>
          <p:nvPr/>
        </p:nvSpPr>
        <p:spPr>
          <a:xfrm>
            <a:off x="978408" y="1783080"/>
            <a:ext cx="128016" cy="128016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Shape 7"/>
          <p:cNvSpPr/>
          <p:nvPr/>
        </p:nvSpPr>
        <p:spPr>
          <a:xfrm>
            <a:off x="1179576" y="178308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0" name="Image 0" descr="/home/claude/work/assets/ic_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2" y="246888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3375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Screenshot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639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A6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 be replaced with an actual screenshot)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16002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1" descr="/home/claude/work/assets/ic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32" y="190195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6656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7665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Tested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9262872" y="160020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445752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work/assets/ic_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190195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45752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sec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9445752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Processing Time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583680" y="33832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66560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3" descr="/home/claude/work/assets/ic_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368503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2400" dirty="0"/>
          </a:p>
        </p:txBody>
      </p:sp>
      <p:sp>
        <p:nvSpPr>
          <p:cNvPr id="27" name="Text 21"/>
          <p:cNvSpPr/>
          <p:nvPr/>
        </p:nvSpPr>
        <p:spPr>
          <a:xfrm>
            <a:off x="6766560" y="4617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262872" y="33832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445752" y="3566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0" name="Image 4" descr="/home/claude/work/assets/ic_gau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4624" y="368503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45752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 / 100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9445752" y="4617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Similarity Score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Result Example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90576" y="1645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3456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/home/claude/work/assets/ic_hash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215" y="19595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13536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73456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73456" y="2816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matches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12768" y="1645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95648" y="1828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/home/claude/work/assets/ic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07" y="1959559"/>
            <a:ext cx="241402" cy="2414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5728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KMP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495648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495648" y="2816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matches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8134960" y="164592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17840" y="18288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2" descr="/home/claude/work/assets/ic_list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599" y="19595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579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31784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317840" y="2816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words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90576" y="3319272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3456" y="35021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3" descr="/home/claude/work/assets/ic_fo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5" y="3632911"/>
            <a:ext cx="241402" cy="24140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13536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73456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673456" y="4489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 matches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312768" y="3319272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495648" y="35021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2" name="Image 4" descr="/home/claude/work/assets/ic_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407" y="3632911"/>
            <a:ext cx="241402" cy="24140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35728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4495648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78.42%</a:t>
            </a:r>
            <a:endParaRPr lang="en-US" sz="2200" dirty="0"/>
          </a:p>
        </p:txBody>
      </p:sp>
      <p:sp>
        <p:nvSpPr>
          <p:cNvPr id="35" name="Text 28"/>
          <p:cNvSpPr/>
          <p:nvPr/>
        </p:nvSpPr>
        <p:spPr>
          <a:xfrm>
            <a:off x="4495648" y="4489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to source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8134960" y="3319272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317840" y="35021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8" name="Image 5" descr="/home/claude/work/assets/ic_rando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8599" y="3632911"/>
            <a:ext cx="241402" cy="241402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5792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</a:t>
            </a:r>
            <a:endParaRPr lang="en-US" sz="1350" dirty="0"/>
          </a:p>
        </p:txBody>
      </p:sp>
      <p:sp>
        <p:nvSpPr>
          <p:cNvPr id="40" name="Text 32"/>
          <p:cNvSpPr/>
          <p:nvPr/>
        </p:nvSpPr>
        <p:spPr>
          <a:xfrm>
            <a:off x="8317840" y="40965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0.64</a:t>
            </a:r>
            <a:endParaRPr lang="en-US" sz="2200" dirty="0"/>
          </a:p>
        </p:txBody>
      </p:sp>
      <p:sp>
        <p:nvSpPr>
          <p:cNvPr id="41" name="Text 33"/>
          <p:cNvSpPr/>
          <p:nvPr/>
        </p:nvSpPr>
        <p:spPr>
          <a:xfrm>
            <a:off x="8317840" y="44897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index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TO COMPLETE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694944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9496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work/assets/ic_check_pl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400" dirty="0"/>
          </a:p>
        </p:txBody>
      </p:sp>
      <p:pic>
        <p:nvPicPr>
          <p:cNvPr id="10" name="Image 1" descr="/home/claude/work/assets/ic_check_m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4144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423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(tokenize, clean, normalize)</a:t>
            </a:r>
            <a:endParaRPr lang="en-US" sz="1200" dirty="0"/>
          </a:p>
        </p:txBody>
      </p:sp>
      <p:pic>
        <p:nvPicPr>
          <p:cNvPr id="12" name="Image 2" descr="/home/claude/work/assets/ic_check_m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9260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Rabin-Karp &amp; KMP pattern matching modules</a:t>
            </a:r>
            <a:endParaRPr lang="en-US" sz="1200" dirty="0"/>
          </a:p>
        </p:txBody>
      </p:sp>
      <p:pic>
        <p:nvPicPr>
          <p:cNvPr id="14" name="Image 3" descr="/home/claude/work/assets/ic_check_m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47288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42900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LCS-based subsequence comparison</a:t>
            </a:r>
            <a:endParaRPr lang="en-US" sz="1200" dirty="0"/>
          </a:p>
        </p:txBody>
      </p:sp>
      <p:pic>
        <p:nvPicPr>
          <p:cNvPr id="16" name="Image 4" descr="/home/claude/work/assets/ic_check_mi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50208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300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&amp; Jaccard similarity computation</a:t>
            </a:r>
            <a:endParaRPr lang="en-US" sz="1200" dirty="0"/>
          </a:p>
        </p:txBody>
      </p:sp>
      <p:pic>
        <p:nvPicPr>
          <p:cNvPr id="18" name="Image 5" descr="/home/claude/work/assets/ic_check_mi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53128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143000" y="44348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UI for document input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6245352" y="1600200"/>
            <a:ext cx="5394960" cy="3337560"/>
          </a:xfrm>
          <a:prstGeom prst="roundRect">
            <a:avLst>
              <a:gd name="adj" fmla="val 2740"/>
            </a:avLst>
          </a:prstGeom>
          <a:solidFill>
            <a:srgbClr val="013A40"/>
          </a:solidFill>
          <a:ln/>
        </p:spPr>
      </p:sp>
      <p:sp>
        <p:nvSpPr>
          <p:cNvPr id="21" name="Shape 13"/>
          <p:cNvSpPr/>
          <p:nvPr/>
        </p:nvSpPr>
        <p:spPr>
          <a:xfrm>
            <a:off x="6473952" y="17830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2" name="Image 6" descr="/home/claude/work/assets/ic_clo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1901952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68312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</a:t>
            </a:r>
            <a:endParaRPr lang="en-US" sz="1400" dirty="0"/>
          </a:p>
        </p:txBody>
      </p:sp>
      <p:pic>
        <p:nvPicPr>
          <p:cNvPr id="24" name="Image 7" descr="/home/claude/work/assets/ic_arrow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244144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39712" y="2423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similarity scoring engine</a:t>
            </a:r>
            <a:endParaRPr lang="en-US" sz="1200" dirty="0"/>
          </a:p>
        </p:txBody>
      </p:sp>
      <p:pic>
        <p:nvPicPr>
          <p:cNvPr id="26" name="Image 8" descr="/home/claude/work/assets/ic_arrow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672" y="294436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839712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Source-matching &amp; reference linking</a:t>
            </a:r>
            <a:endParaRPr lang="en-US" sz="1200" dirty="0"/>
          </a:p>
        </p:txBody>
      </p:sp>
      <p:pic>
        <p:nvPicPr>
          <p:cNvPr id="28" name="Image 9" descr="/home/claude/work/assets/ic_arrow_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9672" y="344728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839712" y="34290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handling (short text, paraphrasing)</a:t>
            </a:r>
            <a:endParaRPr lang="en-US" sz="1200" dirty="0"/>
          </a:p>
        </p:txBody>
      </p:sp>
      <p:pic>
        <p:nvPicPr>
          <p:cNvPr id="30" name="Image 10" descr="/home/claude/work/assets/ic_arrow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9672" y="3950208"/>
            <a:ext cx="182880" cy="18288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6839712" y="3931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UI polish &amp; report export</a:t>
            </a:r>
            <a:endParaRPr lang="en-US" sz="1200" dirty="0"/>
          </a:p>
        </p:txBody>
      </p:sp>
      <p:pic>
        <p:nvPicPr>
          <p:cNvPr id="32" name="Image 11" descr="/home/claude/work/assets/ic_arrow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9672" y="4453128"/>
            <a:ext cx="182880" cy="18288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839712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across larger document sets</a:t>
            </a:r>
            <a:endParaRPr lang="en-US" sz="1200" dirty="0"/>
          </a:p>
        </p:txBody>
      </p:sp>
      <p:sp>
        <p:nvSpPr>
          <p:cNvPr id="34" name="Shape 20"/>
          <p:cNvSpPr/>
          <p:nvPr/>
        </p:nvSpPr>
        <p:spPr>
          <a:xfrm>
            <a:off x="457200" y="5166360"/>
            <a:ext cx="11274552" cy="512064"/>
          </a:xfrm>
          <a:prstGeom prst="roundRect">
            <a:avLst>
              <a:gd name="adj" fmla="val 17857"/>
            </a:avLst>
          </a:prstGeom>
          <a:solidFill>
            <a:srgbClr val="013A40"/>
          </a:solidFill>
          <a:ln/>
        </p:spPr>
      </p:sp>
      <p:pic>
        <p:nvPicPr>
          <p:cNvPr id="35" name="Image 12" descr="/home/claude/work/assets/ic_bul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792" y="5266944"/>
            <a:ext cx="310896" cy="310896"/>
          </a:xfrm>
          <a:prstGeom prst="rect">
            <a:avLst/>
          </a:prstGeom>
        </p:spPr>
      </p:pic>
      <p:sp>
        <p:nvSpPr>
          <p:cNvPr id="36" name="Text 21"/>
          <p:cNvSpPr/>
          <p:nvPr/>
        </p:nvSpPr>
        <p:spPr>
          <a:xfrm>
            <a:off x="1051560" y="5166360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Goal: complete, tested plagiarism detection system with validated similarity results.</a:t>
            </a:r>
            <a:endParaRPr lang="en-US" sz="1300" dirty="0"/>
          </a:p>
        </p:txBody>
      </p:sp>
      <p:sp>
        <p:nvSpPr>
          <p:cNvPr id="37" name="Text 2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38" name="Text 23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43891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Reliable Way to Measure Text Originality Using Classical DSA Techniques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500988" y="17373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work/assets/ic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957" y="1951330"/>
            <a:ext cx="395021" cy="3950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8028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Input</a:t>
            </a:r>
            <a:endParaRPr lang="en-US" sz="1250" dirty="0"/>
          </a:p>
        </p:txBody>
      </p:sp>
      <p:pic>
        <p:nvPicPr>
          <p:cNvPr id="9" name="Image 1" descr="/home/claude/work/assets/ic_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196" y="196596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289908" y="17373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/home/claude/work/assets/ic_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877" y="1951330"/>
            <a:ext cx="395021" cy="39502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66948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Analysis</a:t>
            </a:r>
            <a:endParaRPr lang="en-US" sz="1250" dirty="0"/>
          </a:p>
        </p:txBody>
      </p:sp>
      <p:pic>
        <p:nvPicPr>
          <p:cNvPr id="13" name="Image 3" descr="/home/claude/work/assets/ic_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116" y="196596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7078828" y="17373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5" name="Image 4" descr="/home/claude/work/assets/ic_exch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797" y="1951330"/>
            <a:ext cx="395021" cy="3950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55868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Matching</a:t>
            </a:r>
            <a:endParaRPr lang="en-US" sz="1250" dirty="0"/>
          </a:p>
        </p:txBody>
      </p:sp>
      <p:pic>
        <p:nvPicPr>
          <p:cNvPr id="17" name="Image 5" descr="/home/claude/work/assets/ic_arr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3036" y="196596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9867748" y="173736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6" descr="/home/claude/work/assets/ic_clipboar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717" y="1951330"/>
            <a:ext cx="395021" cy="39502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044788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Report</a:t>
            </a:r>
            <a:endParaRPr lang="en-US" sz="1250" dirty="0"/>
          </a:p>
        </p:txBody>
      </p:sp>
      <p:pic>
        <p:nvPicPr>
          <p:cNvPr id="21" name="Image 7" descr="/home/claude/work/assets/ic_check_mi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8800" y="3538728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219456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DSA techniques integrated (hashing, DP, similarity)</a:t>
            </a:r>
            <a:endParaRPr lang="en-US" sz="1300" dirty="0"/>
          </a:p>
        </p:txBody>
      </p:sp>
      <p:pic>
        <p:nvPicPr>
          <p:cNvPr id="23" name="Image 8" descr="/home/claude/work/assets/ic_check_mi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3977640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194560" y="3959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plagiarism scoring out of 100</a:t>
            </a:r>
            <a:endParaRPr lang="en-US" sz="1300" dirty="0"/>
          </a:p>
        </p:txBody>
      </p:sp>
      <p:pic>
        <p:nvPicPr>
          <p:cNvPr id="25" name="Image 9" descr="/home/claude/work/assets/ic_check_mi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4416552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2194560" y="439826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identification of matched / copied content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0" y="5257800"/>
            <a:ext cx="12191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28" name="Text 16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TIME AND ATTENTION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  ·  KLH University  ·  Review 2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1154887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2026-09-16T00:45:19Z</dcterms:created>
  <dcterms:modified xsi:type="dcterms:W3CDTF">2026-09-16T00:45:19Z</dcterms:modified>
</cp:coreProperties>
</file>