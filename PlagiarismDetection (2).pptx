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70" r:id="rId20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20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252B5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52B52"/>
          </a:solidFill>
          <a:ln/>
        </p:spPr>
      </p:sp>
      <p:pic>
        <p:nvPicPr>
          <p:cNvPr id="4" name="Image 0" descr="icons/fingerprint-w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9646920" y="105156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Detection and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Similarity Analysis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identifying exact and approximate textual similarity across documents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4343400"/>
            <a:ext cx="7863840" cy="1874520"/>
          </a:xfrm>
          <a:prstGeom prst="roundRect">
            <a:avLst>
              <a:gd name="adj" fmla="val 3902"/>
            </a:avLst>
          </a:prstGeom>
          <a:solidFill>
            <a:srgbClr val="252B52"/>
          </a:solidFill>
          <a:ln w="12700">
            <a:solidFill>
              <a:srgbClr val="3A41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48920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Gayathri. 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1572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9160" y="48920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Charika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09160" y="51572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5513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5779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5513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Srivalli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5779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&amp; Document Similarity Analysis System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and professional integrity is increasingly challenged by the ease of copying digital content. This project presents a Plagiarism Detection and Document Similarity Analysis System that automatically compares an input document against a reference corpus to identify overlapping content.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combines hashing-based exact-match detection with vector-space similarity techniques — TF-IDF cosine similarity and sentence embeddings — to flag both verbatim copying and paraphrased text. Uploaded documents are preprocessed, chunked, and scored against reference sources, producing a similarity report with highlighted overlapping passages.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offering an efficient, free alternative to costly commercial tools, the system helps students, researchers and educators verify document originality quickly and reliably.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22192" cy="1399032"/>
          </a:xfrm>
          <a:prstGeom prst="roundRect">
            <a:avLst>
              <a:gd name="adj" fmla="val 5229"/>
            </a:avLst>
          </a:prstGeom>
          <a:solidFill>
            <a:srgbClr val="1B1F3B"/>
          </a:solidFill>
          <a:ln/>
        </p:spPr>
      </p:sp>
      <p:sp>
        <p:nvSpPr>
          <p:cNvPr id="7" name="Shape 5"/>
          <p:cNvSpPr/>
          <p:nvPr/>
        </p:nvSpPr>
        <p:spPr>
          <a:xfrm>
            <a:off x="7927848" y="2189988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icons/fingerprin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3088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196596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+ Approximate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0" y="2404872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verbatim copying and paraphrased content alike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26680" y="3300984"/>
            <a:ext cx="3822192" cy="1399032"/>
          </a:xfrm>
          <a:prstGeom prst="roundRect">
            <a:avLst>
              <a:gd name="adj" fmla="val 5229"/>
            </a:avLst>
          </a:prstGeom>
          <a:solidFill>
            <a:srgbClr val="1B1F3B"/>
          </a:solidFill>
          <a:ln/>
        </p:spPr>
      </p:sp>
      <p:sp>
        <p:nvSpPr>
          <p:cNvPr id="12" name="Shape 9"/>
          <p:cNvSpPr/>
          <p:nvPr/>
        </p:nvSpPr>
        <p:spPr>
          <a:xfrm>
            <a:off x="7927848" y="37078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icons/compar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82676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0" y="3483864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+ Vector Similarity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686800" y="3922776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embeddings &amp; hashing work together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726680" y="4818888"/>
            <a:ext cx="3822192" cy="1399032"/>
          </a:xfrm>
          <a:prstGeom prst="roundRect">
            <a:avLst>
              <a:gd name="adj" fmla="val 5229"/>
            </a:avLst>
          </a:prstGeom>
          <a:solidFill>
            <a:srgbClr val="1B1F3B"/>
          </a:solidFill>
          <a:ln/>
        </p:spPr>
      </p:sp>
      <p:sp>
        <p:nvSpPr>
          <p:cNvPr id="17" name="Shape 13"/>
          <p:cNvSpPr/>
          <p:nvPr/>
        </p:nvSpPr>
        <p:spPr>
          <a:xfrm>
            <a:off x="7927848" y="5225796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2" descr="icons/repo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53446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5001768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Similarity Report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686800" y="544068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overlaps with an originality score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&amp; Document Similarity Analysis System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4712" y="1581912"/>
            <a:ext cx="1133856" cy="1133856"/>
          </a:xfrm>
          <a:prstGeom prst="ellipse">
            <a:avLst/>
          </a:prstGeom>
          <a:solidFill>
            <a:srgbClr val="1B1F3B"/>
          </a:solidFill>
          <a:ln w="25400">
            <a:solidFill>
              <a:srgbClr val="2EC4B6"/>
            </a:solidFill>
            <a:prstDash val="solid"/>
          </a:ln>
        </p:spPr>
      </p:sp>
      <p:pic>
        <p:nvPicPr>
          <p:cNvPr id="5" name="Image 0" descr="icons/uploa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254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Document Upload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 or TXT ingested by the system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13832" y="1581912"/>
            <a:ext cx="1133856" cy="1133856"/>
          </a:xfrm>
          <a:prstGeom prst="ellipse">
            <a:avLst/>
          </a:prstGeom>
          <a:solidFill>
            <a:srgbClr val="1B1F3B"/>
          </a:solidFill>
          <a:ln w="25400">
            <a:solidFill>
              <a:srgbClr val="2EC4B6"/>
            </a:solidFill>
            <a:prstDash val="solid"/>
          </a:ln>
        </p:spPr>
      </p:sp>
      <p:pic>
        <p:nvPicPr>
          <p:cNvPr id="9" name="Image 1" descr="icons/filter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8745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28254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Preprocessing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3154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tokenization &amp; stop-word removal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902952" y="1581912"/>
            <a:ext cx="1133856" cy="1133856"/>
          </a:xfrm>
          <a:prstGeom prst="ellipse">
            <a:avLst/>
          </a:prstGeom>
          <a:solidFill>
            <a:srgbClr val="1B1F3B"/>
          </a:solidFill>
          <a:ln w="25400">
            <a:solidFill>
              <a:srgbClr val="2EC4B6"/>
            </a:solidFill>
            <a:prstDash val="solid"/>
          </a:ln>
        </p:spPr>
      </p:sp>
      <p:pic>
        <p:nvPicPr>
          <p:cNvPr id="13" name="Image 2" descr="icons/fingerprin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18745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35440" y="28254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Exact Match Check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235440" y="3154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Shingling &amp; hashing vs. reference corpus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902952" y="4142232"/>
            <a:ext cx="1133856" cy="1133856"/>
          </a:xfrm>
          <a:prstGeom prst="ellipse">
            <a:avLst/>
          </a:prstGeom>
          <a:solidFill>
            <a:srgbClr val="1B1F3B"/>
          </a:solidFill>
          <a:ln w="25400">
            <a:solidFill>
              <a:srgbClr val="2EC4B6"/>
            </a:solidFill>
            <a:prstDash val="solid"/>
          </a:ln>
        </p:spPr>
      </p:sp>
      <p:pic>
        <p:nvPicPr>
          <p:cNvPr id="17" name="Image 3" descr="icons/compar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443484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35440" y="5385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Approximate Match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235440" y="5715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&amp; embedding comparison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513832" y="4142232"/>
            <a:ext cx="1133856" cy="1133856"/>
          </a:xfrm>
          <a:prstGeom prst="ellipse">
            <a:avLst/>
          </a:prstGeom>
          <a:solidFill>
            <a:srgbClr val="1B1F3B"/>
          </a:solidFill>
          <a:ln w="25400">
            <a:solidFill>
              <a:srgbClr val="2EC4B6"/>
            </a:solidFill>
            <a:prstDash val="solid"/>
          </a:ln>
        </p:spPr>
      </p:sp>
      <p:pic>
        <p:nvPicPr>
          <p:cNvPr id="21" name="Image 4" descr="icons/barchart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43484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46320" y="5385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Similarity Scoring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46320" y="5715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originality score computed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124712" y="4142232"/>
            <a:ext cx="1133856" cy="1133856"/>
          </a:xfrm>
          <a:prstGeom prst="ellipse">
            <a:avLst/>
          </a:prstGeom>
          <a:solidFill>
            <a:srgbClr val="1B1F3B"/>
          </a:solidFill>
          <a:ln w="25400">
            <a:solidFill>
              <a:srgbClr val="2EC4B6"/>
            </a:solidFill>
            <a:prstDash val="solid"/>
          </a:ln>
        </p:spPr>
      </p:sp>
      <p:pic>
        <p:nvPicPr>
          <p:cNvPr id="25" name="Image 5" descr="icons/report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43484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57200" y="5385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Report Generation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57200" y="5715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report delivered to the user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2368296" y="2048256"/>
            <a:ext cx="3035808" cy="201168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29" name="Shape 21"/>
          <p:cNvSpPr/>
          <p:nvPr/>
        </p:nvSpPr>
        <p:spPr>
          <a:xfrm>
            <a:off x="6757416" y="2048256"/>
            <a:ext cx="3035808" cy="201168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30" name="Shape 22"/>
          <p:cNvSpPr/>
          <p:nvPr/>
        </p:nvSpPr>
        <p:spPr>
          <a:xfrm>
            <a:off x="10369296" y="3840480"/>
            <a:ext cx="201168" cy="256032"/>
          </a:xfrm>
          <a:prstGeom prst="downArrow">
            <a:avLst/>
          </a:prstGeom>
          <a:solidFill>
            <a:srgbClr val="FF9F1C"/>
          </a:solidFill>
          <a:ln/>
        </p:spPr>
      </p:sp>
      <p:sp>
        <p:nvSpPr>
          <p:cNvPr id="31" name="Shape 23"/>
          <p:cNvSpPr/>
          <p:nvPr/>
        </p:nvSpPr>
        <p:spPr>
          <a:xfrm>
            <a:off x="2935224" y="4608576"/>
            <a:ext cx="3035808" cy="201168"/>
          </a:xfrm>
          <a:prstGeom prst="leftArrow">
            <a:avLst/>
          </a:prstGeom>
          <a:solidFill>
            <a:srgbClr val="2EC4B6"/>
          </a:solidFill>
          <a:ln/>
        </p:spPr>
      </p:sp>
      <p:sp>
        <p:nvSpPr>
          <p:cNvPr id="32" name="Shape 24"/>
          <p:cNvSpPr/>
          <p:nvPr/>
        </p:nvSpPr>
        <p:spPr>
          <a:xfrm>
            <a:off x="7324344" y="4608576"/>
            <a:ext cx="3035808" cy="201168"/>
          </a:xfrm>
          <a:prstGeom prst="leftArrow">
            <a:avLst/>
          </a:prstGeom>
          <a:solidFill>
            <a:srgbClr val="2EC4B6"/>
          </a:solidFill>
          <a:ln/>
        </p:spPr>
      </p:sp>
      <p:sp>
        <p:nvSpPr>
          <p:cNvPr id="33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&amp; Document Similarity Analysis System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System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512064" cy="51206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6" name="Image 0" descr="icons/upload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96596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Ingestion &amp; Parsing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PDF, DOCX and TXT files; extracts clean text using PyPDF2 / python-docx parsers.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84248"/>
            <a:ext cx="512064" cy="51206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11" name="Image 1" descr="icons/filter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0939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6596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Preprocessing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265176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case, removes punctuation &amp; stop-words, then tokenizes and lemmatizes content.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984248"/>
            <a:ext cx="512064" cy="51206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16" name="Image 2" descr="icons/fingerprint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93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51392" y="196596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Match Detection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11312" y="265176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n-gram shingling and hashing (Rabin–Karp / MinHash) to instantly flag copy-pasted text.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178808"/>
            <a:ext cx="512064" cy="51206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21" name="Image 3" descr="icons/compare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2885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16052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Similarity Detection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" y="484632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TF-IDF cosine similarity and sentence embeddings to catch paraphrased or reworded content.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977640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178808"/>
            <a:ext cx="512064" cy="51206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26" name="Image 4" descr="icons/barchart-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2885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16052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Scoring Engine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484632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exact + approximate scores into a weighted originality percentage per document.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3977640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4178808"/>
            <a:ext cx="512064" cy="51206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31" name="Image 5" descr="icons/dashboard-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28853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51392" y="416052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Dashboard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11312" y="4846320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interactive report highlighting matched passages with source references.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&amp; Document Similarity Analysis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2026-08-05T05:03:11Z</dcterms:created>
  <dcterms:modified xsi:type="dcterms:W3CDTF">2026-08-05T05:03:11Z</dcterms:modified>
</cp:coreProperties>
</file>