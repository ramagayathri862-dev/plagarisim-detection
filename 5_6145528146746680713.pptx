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E7"/>
                </a:solidFill>
                <a:latin typeface="Aptos"/>
              </a:rPr>
              <a:t>LEARN | BUILD | ANALYZE | DETECT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50292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"/>
              </a:rPr>
              <a:t>PLAGIARISM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6583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4D3E7"/>
                </a:solidFill>
                <a:latin typeface="Aptos"/>
              </a:rPr>
              <a:t>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31720"/>
            <a:ext cx="6949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AB8CC"/>
                </a:solidFill>
                <a:latin typeface="Aptos"/>
              </a:rPr>
              <a:t>Java-Based Document Similarity &amp; Plagiarism Detection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944368"/>
            <a:ext cx="1005840" cy="347472"/>
          </a:xfrm>
          <a:prstGeom prst="round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DETECT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55648" y="2944368"/>
            <a:ext cx="1143000" cy="347472"/>
          </a:xfrm>
          <a:prstGeom prst="roundRect">
            <a:avLst/>
          </a:prstGeom>
          <a:solidFill>
            <a:srgbClr val="5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COMPARE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5808" y="2944368"/>
            <a:ext cx="1143000" cy="347472"/>
          </a:xfrm>
          <a:prstGeom prst="round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ANALYZE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703320"/>
            <a:ext cx="5257800" cy="214884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1363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E7"/>
                </a:solidFill>
                <a:latin typeface="Aptos"/>
              </a:rPr>
              <a:t>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15968"/>
            <a:ext cx="4663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2510030213 — Rama Gayathri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2510030285 — Chakrika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2510030109 — Srivalli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2510030376 — Chandana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91363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AB8CC"/>
                </a:solidFill>
                <a:latin typeface="Aptos"/>
              </a:rPr>
              <a:t>Department: Computer Science and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37083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Academic Project • Review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89204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AB8CC"/>
                </a:solidFill>
                <a:latin typeface="Aptos"/>
              </a:rPr>
              <a:t>A system that detects copied, closely paraphrased, and highly similar text by combining preprocessing, DSA-based matching and similarity scoring.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E7"/>
                </a:solidFill>
                <a:latin typeface="Aptos"/>
              </a:rPr>
              <a:t>PROJECT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247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FROM DOCUMENTS → MATCHES →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057400" cy="333756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4D3E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Document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737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Upload / enter a reference document and a submitted document.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310128"/>
            <a:ext cx="274319" cy="0"/>
          </a:xfrm>
          <a:prstGeom prst="line">
            <a:avLst/>
          </a:prstGeom>
          <a:ln w="2540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34639" y="1691640"/>
            <a:ext cx="2057400" cy="333756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99" y="1874519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4D3E7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233172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Text 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799" y="2971800"/>
            <a:ext cx="1737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Clean, normalize, tokenize and remove noise before comparison.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92040" y="3310128"/>
            <a:ext cx="274319" cy="0"/>
          </a:xfrm>
          <a:prstGeom prst="line">
            <a:avLst/>
          </a:prstGeom>
          <a:ln w="2540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66359" y="1691640"/>
            <a:ext cx="2057400" cy="333756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874519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4D3E7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33172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Pattern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971800"/>
            <a:ext cx="1737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Find exact and near matches using efficient string algorithms.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23759" y="3310128"/>
            <a:ext cx="274320" cy="0"/>
          </a:xfrm>
          <a:prstGeom prst="line">
            <a:avLst/>
          </a:prstGeom>
          <a:ln w="2540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79" y="1691640"/>
            <a:ext cx="2057400" cy="333756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1874519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4D3E7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33172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Similarity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971800"/>
            <a:ext cx="1737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Calculate similarity percentage and identify suspicious passages.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55480" y="3310128"/>
            <a:ext cx="274320" cy="0"/>
          </a:xfrm>
          <a:prstGeom prst="line">
            <a:avLst/>
          </a:prstGeom>
          <a:ln w="2540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29800" y="1691640"/>
            <a:ext cx="2057400" cy="333756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1874519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4D3E7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33172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Report &amp; 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971800"/>
            <a:ext cx="1737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Show matched text, score, source references and review guidance.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49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0DC96"/>
                </a:solidFill>
                <a:latin typeface="Aptos"/>
              </a:rPr>
              <a:t>Core idea: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330952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Do not rely on one metric. Combine exact matching, near matching and statistical similarity for a more reliable plagiarism signal.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E7"/>
                </a:solidFill>
                <a:latin typeface="Aptos"/>
              </a:rPr>
              <a:t>PROGRESS SINCE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Implementation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247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ANALYZE • MATCH •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Project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856231"/>
            <a:ext cx="6766560" cy="219456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23160" y="1856231"/>
            <a:ext cx="6766560" cy="219456"/>
          </a:xfrm>
          <a:prstGeom prst="roundRect">
            <a:avLst/>
          </a:prstGeom>
          <a:solidFill>
            <a:srgbClr val="34D3E7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182880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0DC96"/>
                </a:solidFill>
                <a:latin typeface="Aptos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Document 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514599"/>
            <a:ext cx="6766560" cy="219456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3160" y="2514599"/>
            <a:ext cx="6766560" cy="219456"/>
          </a:xfrm>
          <a:prstGeom prst="roundRect">
            <a:avLst/>
          </a:prstGeom>
          <a:solidFill>
            <a:srgbClr val="34D3E7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2487168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0DC96"/>
                </a:solidFill>
                <a:latin typeface="Aptos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4553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Preprocessing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3172968"/>
            <a:ext cx="6766560" cy="219456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23160" y="3172968"/>
            <a:ext cx="6766560" cy="219456"/>
          </a:xfrm>
          <a:prstGeom prst="roundRect">
            <a:avLst/>
          </a:prstGeom>
          <a:solidFill>
            <a:srgbClr val="34D3E7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3145536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0DC96"/>
                </a:solidFill>
                <a:latin typeface="Aptos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0390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DSA Matching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3831336"/>
            <a:ext cx="6766560" cy="219456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23160" y="3831336"/>
            <a:ext cx="6766560" cy="219456"/>
          </a:xfrm>
          <a:prstGeom prst="roundRect">
            <a:avLst/>
          </a:prstGeom>
          <a:solidFill>
            <a:srgbClr val="34D3E7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3803904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0DC96"/>
                </a:solidFill>
                <a:latin typeface="Aptos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622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Similarity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4489704"/>
            <a:ext cx="6766560" cy="219456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423160" y="4489704"/>
            <a:ext cx="5413248" cy="219456"/>
          </a:xfrm>
          <a:prstGeom prst="roundRect">
            <a:avLst/>
          </a:prstGeom>
          <a:solidFill>
            <a:srgbClr val="FACC5A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44622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FACC5A"/>
                </a:solidFill>
                <a:latin typeface="Aptos"/>
              </a:rPr>
              <a:t>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1206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Result 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5148072"/>
            <a:ext cx="6766560" cy="219456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423160" y="5148072"/>
            <a:ext cx="4059936" cy="219456"/>
          </a:xfrm>
          <a:prstGeom prst="roundRect">
            <a:avLst/>
          </a:prstGeom>
          <a:solidFill>
            <a:srgbClr val="FACC5A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512064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FACC5A"/>
                </a:solidFill>
                <a:latin typeface="Aptos"/>
              </a:rPr>
              <a:t>60%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806440"/>
            <a:ext cx="10149840" cy="41148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879592"/>
            <a:ext cx="9784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Current focus: integrate the matching algorithms, validate threshold behavior, and polish the final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E7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Current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247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LAYERED FLOW WITH PERSISTENT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508760" cy="658368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441448"/>
            <a:ext cx="136245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4D3E7"/>
                </a:solidFill>
                <a:latin typeface="Aptos"/>
              </a:rPr>
              <a:t>USER /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331720"/>
            <a:ext cx="1828800" cy="658368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2441448"/>
            <a:ext cx="168249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A078FF"/>
                </a:solidFill>
                <a:latin typeface="Aptos"/>
              </a:rPr>
              <a:t>WEB UI
HTML • CSS • 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331720"/>
            <a:ext cx="1691640" cy="658368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2441448"/>
            <a:ext cx="154533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0DC96"/>
                </a:solidFill>
                <a:latin typeface="Aptos"/>
              </a:rPr>
              <a:t>JAVA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600200"/>
            <a:ext cx="1691640" cy="658368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2" y="1709928"/>
            <a:ext cx="154533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ACC5A"/>
                </a:solidFill>
                <a:latin typeface="Aptos"/>
              </a:rPr>
              <a:t>PREPROCESSING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514600"/>
            <a:ext cx="1691640" cy="658368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2" y="2624328"/>
            <a:ext cx="154533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4D3E7"/>
                </a:solidFill>
                <a:latin typeface="Aptos"/>
              </a:rPr>
              <a:t>DSA MATCHING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3429000"/>
            <a:ext cx="1691640" cy="658368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3538728"/>
            <a:ext cx="154533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A078FF"/>
                </a:solidFill>
                <a:latin typeface="Aptos"/>
              </a:rPr>
              <a:t>SIMILARITY
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331720"/>
            <a:ext cx="1600200" cy="658368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2441448"/>
            <a:ext cx="145389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0DC96"/>
                </a:solidFill>
                <a:latin typeface="Aptos"/>
              </a:rPr>
              <a:t>REPORT / UI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11680" y="2660904"/>
            <a:ext cx="411480" cy="0"/>
          </a:xfrm>
          <a:prstGeom prst="line">
            <a:avLst/>
          </a:prstGeom>
          <a:ln w="2540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51960" y="2660904"/>
            <a:ext cx="457200" cy="0"/>
          </a:xfrm>
          <a:prstGeom prst="line">
            <a:avLst/>
          </a:prstGeom>
          <a:ln w="2540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0" y="2660904"/>
            <a:ext cx="411480" cy="0"/>
          </a:xfrm>
          <a:prstGeom prst="line">
            <a:avLst/>
          </a:prstGeom>
          <a:ln w="2540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03920" y="2660904"/>
            <a:ext cx="640080" cy="0"/>
          </a:xfrm>
          <a:prstGeom prst="line">
            <a:avLst/>
          </a:prstGeom>
          <a:ln w="2540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62672" y="2258568"/>
            <a:ext cx="0" cy="256032"/>
          </a:xfrm>
          <a:prstGeom prst="line">
            <a:avLst/>
          </a:prstGeom>
          <a:ln w="2540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62672" y="3172968"/>
            <a:ext cx="0" cy="256032"/>
          </a:xfrm>
          <a:prstGeom prst="line">
            <a:avLst/>
          </a:prstGeom>
          <a:ln w="2540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26280" y="4343400"/>
            <a:ext cx="2880360" cy="1097280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52628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ACC5A"/>
                </a:solidFill>
                <a:latin typeface="Aptos"/>
              </a:rPr>
              <a:t>DATABASE (OPTIONAL)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89204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AB8CC"/>
                </a:solidFill>
                <a:latin typeface="Aptos"/>
              </a:rPr>
              <a:t>Users • Documents • Match Results • Reports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59552" y="3319272"/>
            <a:ext cx="0" cy="1024128"/>
          </a:xfrm>
          <a:prstGeom prst="line">
            <a:avLst/>
          </a:prstGeom>
          <a:ln w="25400">
            <a:solidFill>
              <a:srgbClr val="50D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580644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ER / data model is useful when the project stores document history, users and plagiarism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E7"/>
                </a:solidFill>
                <a:latin typeface="Aptos"/>
              </a:rPr>
              <a:t>INPUT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Input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247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CLEAN TEXT → CONSISTENT TOKENS → READY FOR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017520" cy="425196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4D3E7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514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Reference / source document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Submitted document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TXT / PDF / DOCX text (as supported)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Document title / author metadata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Comparison mode and 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83480"/>
            <a:ext cx="1097280" cy="347472"/>
          </a:xfrm>
          <a:prstGeom prst="round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Document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4983480"/>
            <a:ext cx="1097280" cy="347472"/>
          </a:xfrm>
          <a:prstGeom prst="roundRect">
            <a:avLst/>
          </a:prstGeom>
          <a:solidFill>
            <a:srgbClr val="5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Document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874519"/>
            <a:ext cx="1298448" cy="23317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20116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7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245059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2944368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Remove extra spaces,
punctuation/noise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84648" y="3017520"/>
            <a:ext cx="237744" cy="0"/>
          </a:xfrm>
          <a:prstGeom prst="line">
            <a:avLst/>
          </a:prstGeom>
          <a:ln w="1905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22392" y="1874519"/>
            <a:ext cx="1298448" cy="23317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95544" y="20116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7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95544" y="245059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Normalize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5544" y="2944368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Lowercase and
standardize text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20840" y="3017520"/>
            <a:ext cx="237743" cy="0"/>
          </a:xfrm>
          <a:prstGeom prst="line">
            <a:avLst/>
          </a:prstGeom>
          <a:ln w="1905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958583" y="1874519"/>
            <a:ext cx="1298448" cy="23317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31736" y="20116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7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6" y="245059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Tokenize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2944368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Split into words /
phrases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57031" y="3017520"/>
            <a:ext cx="237745" cy="0"/>
          </a:xfrm>
          <a:prstGeom prst="line">
            <a:avLst/>
          </a:prstGeom>
          <a:ln w="1905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494776" y="1874519"/>
            <a:ext cx="1298448" cy="23317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7928" y="20116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7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245059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Filter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2944368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Optional stop-word
handling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93224" y="3017520"/>
            <a:ext cx="237743" cy="0"/>
          </a:xfrm>
          <a:prstGeom prst="line">
            <a:avLst/>
          </a:prstGeom>
          <a:ln w="1905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30967" y="1874519"/>
            <a:ext cx="1298448" cy="23317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19" y="20116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7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9" y="245059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Represent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19" y="2944368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Build n-grams /
frequency vectors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4617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0DC96"/>
                </a:solidFill>
                <a:latin typeface="Aptos"/>
              </a:rPr>
              <a:t>Why preprocessing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4965192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The same sentence can appear with different capitalization, spacing or punctuation. Normalization reduces false differences before similarity is calculated.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E7"/>
                </a:solidFill>
                <a:latin typeface="Aptos"/>
              </a:rPr>
              <a:t>DSA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DSA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247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EFFICIENT MATCHING FOR EXACT, NEAR AND PHRASE-LEVEL COPYING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429000" cy="16459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05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7"/>
                </a:solidFill>
                <a:latin typeface="Aptos"/>
              </a:rPr>
              <a:t>KMP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677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Exact pattern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8775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Find a known phrase efficiently in another document.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429000" cy="16459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8105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7"/>
                </a:solidFill>
                <a:latin typeface="Aptos"/>
              </a:rPr>
              <a:t>Rabin–Karp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2677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Hash-based 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58775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Compare many substrings using rolling hashes.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429000" cy="16459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8105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7"/>
                </a:solidFill>
                <a:latin typeface="Aptos"/>
              </a:rPr>
              <a:t>N-Gram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2677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Phrase overlap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58775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Detect copied multi-word sequences even when text is split.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3429000" cy="16459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82219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7"/>
                </a:solidFill>
                <a:latin typeface="Aptos"/>
              </a:rPr>
              <a:t>LCS / Edit 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793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Near matches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59943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Measure changes, insertions, deletions and reordering.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657600"/>
            <a:ext cx="3429000" cy="16459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382219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7"/>
                </a:solidFill>
                <a:latin typeface="Aptos"/>
              </a:rPr>
              <a:t>HashMap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42793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Frequency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459943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Store token / phrase frequencies for fast lookup.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657600"/>
            <a:ext cx="3429000" cy="16459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82219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7"/>
                </a:solidFill>
                <a:latin typeface="Aptos"/>
              </a:rPr>
              <a:t>Cosine Similarity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2793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Overall similarity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59943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Compare vector representations of the two documents.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83387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ACC5A"/>
                </a:solidFill>
                <a:latin typeface="Aptos"/>
              </a:rPr>
              <a:t>Recommended approach: use multiple signals rather than declaring plagiarism from a single algorithm.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E7"/>
                </a:solidFill>
                <a:latin typeface="Aptos"/>
              </a:rPr>
              <a:t>DETECTION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Plagiarism Detection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247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FROM TEXT → MATCHED SEGMENTS → FINAL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40280"/>
            <a:ext cx="1389888" cy="14173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2487168"/>
            <a:ext cx="1243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4D3E7"/>
                </a:solidFill>
                <a:latin typeface="Aptos"/>
              </a:rPr>
              <a:t>Text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889504"/>
            <a:ext cx="1243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AB8CC"/>
                </a:solidFill>
                <a:latin typeface="Aptos"/>
              </a:rPr>
              <a:t>Reference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01368" y="2944368"/>
            <a:ext cx="274320" cy="0"/>
          </a:xfrm>
          <a:prstGeom prst="line">
            <a:avLst/>
          </a:prstGeom>
          <a:ln w="1905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75688" y="2240280"/>
            <a:ext cx="1389888" cy="14173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2487168"/>
            <a:ext cx="1243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4D3E7"/>
                </a:solidFill>
                <a:latin typeface="Aptos"/>
              </a:rPr>
              <a:t>Text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889504"/>
            <a:ext cx="1243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AB8CC"/>
                </a:solidFill>
                <a:latin typeface="Aptos"/>
              </a:rPr>
              <a:t>Submission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65576" y="2944368"/>
            <a:ext cx="274320" cy="0"/>
          </a:xfrm>
          <a:prstGeom prst="line">
            <a:avLst/>
          </a:prstGeom>
          <a:ln w="1905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39896" y="2240280"/>
            <a:ext cx="1389888" cy="14173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2487168"/>
            <a:ext cx="1243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4D3E7"/>
                </a:solidFill>
                <a:latin typeface="Aptos"/>
              </a:rPr>
              <a:t>Preprocess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2889504"/>
            <a:ext cx="1243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AB8CC"/>
                </a:solidFill>
                <a:latin typeface="Aptos"/>
              </a:rPr>
              <a:t>Normalize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29783" y="2944368"/>
            <a:ext cx="274321" cy="0"/>
          </a:xfrm>
          <a:prstGeom prst="line">
            <a:avLst/>
          </a:prstGeom>
          <a:ln w="1905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04104" y="2240280"/>
            <a:ext cx="1389888" cy="14173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77256" y="2487168"/>
            <a:ext cx="1243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0DC96"/>
                </a:solidFill>
                <a:latin typeface="Aptos"/>
              </a:rPr>
              <a:t>Extract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7256" y="2889504"/>
            <a:ext cx="1243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AB8CC"/>
                </a:solidFill>
                <a:latin typeface="Aptos"/>
              </a:rPr>
              <a:t>Tokens + n-grams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93992" y="2944368"/>
            <a:ext cx="274320" cy="0"/>
          </a:xfrm>
          <a:prstGeom prst="line">
            <a:avLst/>
          </a:prstGeom>
          <a:ln w="1905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68312" y="2240280"/>
            <a:ext cx="1389888" cy="14173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1464" y="2487168"/>
            <a:ext cx="1243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0DC96"/>
                </a:solidFill>
                <a:latin typeface="Aptos"/>
              </a:rPr>
              <a:t>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1464" y="2889504"/>
            <a:ext cx="1243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AB8CC"/>
                </a:solidFill>
                <a:latin typeface="Aptos"/>
              </a:rPr>
              <a:t>KMP + Hashing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58200" y="2944368"/>
            <a:ext cx="274320" cy="0"/>
          </a:xfrm>
          <a:prstGeom prst="line">
            <a:avLst/>
          </a:prstGeom>
          <a:ln w="1905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32519" y="2240280"/>
            <a:ext cx="1389888" cy="14173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05672" y="2487168"/>
            <a:ext cx="1243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0DC96"/>
                </a:solidFill>
                <a:latin typeface="Aptos"/>
              </a:rPr>
              <a:t>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5672" y="2889504"/>
            <a:ext cx="1243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AB8CC"/>
                </a:solidFill>
                <a:latin typeface="Aptos"/>
              </a:rPr>
              <a:t>Similarity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122407" y="2944368"/>
            <a:ext cx="274321" cy="0"/>
          </a:xfrm>
          <a:prstGeom prst="line">
            <a:avLst/>
          </a:prstGeom>
          <a:ln w="19050">
            <a:solidFill>
              <a:srgbClr val="34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396728" y="2240280"/>
            <a:ext cx="1389888" cy="14173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69880" y="2487168"/>
            <a:ext cx="1243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0DC96"/>
                </a:solidFill>
                <a:latin typeface="Aptos"/>
              </a:rP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80" y="2889504"/>
            <a:ext cx="1243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AB8CC"/>
                </a:solidFill>
                <a:latin typeface="Aptos"/>
              </a:rPr>
              <a:t>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251960"/>
            <a:ext cx="1965960" cy="868680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498848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7171"/>
                </a:solidFill>
                <a:latin typeface="Aptos"/>
              </a:rPr>
              <a:t>Exact Match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0" y="4251960"/>
            <a:ext cx="1965960" cy="868680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4498848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ACC5A"/>
                </a:solidFill>
                <a:latin typeface="Aptos"/>
              </a:rPr>
              <a:t>Near Match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4251960"/>
            <a:ext cx="1965960" cy="868680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4498848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0DC96"/>
                </a:solidFill>
                <a:latin typeface="Aptos"/>
              </a:rPr>
              <a:t>Unique Text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26880" y="4251960"/>
            <a:ext cx="1965960" cy="868680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19" y="4498848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078FF"/>
                </a:solidFill>
                <a:latin typeface="Aptos"/>
              </a:rPr>
              <a:t>Overall 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4406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AB8CC"/>
                </a:solidFill>
                <a:latin typeface="Aptos"/>
              </a:rPr>
              <a:t>Decision rule example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5394960"/>
            <a:ext cx="8503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High similarity + strong phrase overlap → flag for human review. A score is evidence, not an automatic accusation.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E7"/>
                </a:solidFill>
                <a:latin typeface="Aptos"/>
              </a:rPr>
              <a:t>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Document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247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FROM RAW TEXT → EVIDENCE-BASED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074920" cy="43891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E7"/>
                </a:solidFill>
                <a:latin typeface="Aptos"/>
              </a:rPr>
              <a:t>SUBMISSION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59152"/>
            <a:ext cx="4526280" cy="457200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50592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Machine learning enables computers to learn from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99232"/>
            <a:ext cx="4526280" cy="457200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090672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It is widely used in recommendation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39312"/>
            <a:ext cx="4526280" cy="457200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730752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Models can improve as more examples become available.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79392"/>
            <a:ext cx="4526280" cy="457200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370831"/>
            <a:ext cx="4160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Plagiarism detection compares text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600200"/>
            <a:ext cx="5669280" cy="43891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0DC96"/>
                </a:solidFill>
                <a:latin typeface="Aptos"/>
              </a:rPr>
              <a:t>ANALYSIS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331720"/>
            <a:ext cx="2103120" cy="100584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459736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A078FF"/>
                </a:solidFill>
                <a:latin typeface="Aptos"/>
              </a:rPr>
              <a:t>78.4%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916936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AB8CC"/>
                </a:solidFill>
                <a:latin typeface="Aptos"/>
              </a:rPr>
              <a:t>Overall Similarity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2331720"/>
            <a:ext cx="2103120" cy="100584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50807" y="2459736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4D3E7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7" y="2916936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AB8CC"/>
                </a:solidFill>
                <a:latin typeface="Aptos"/>
              </a:rPr>
              <a:t>Exact Matches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611880"/>
            <a:ext cx="2103120" cy="100584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739896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ACC5A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197096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AB8CC"/>
                </a:solidFill>
                <a:latin typeface="Aptos"/>
              </a:rPr>
              <a:t>Phrase Matches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3611880"/>
            <a:ext cx="2103120" cy="100584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0807" y="3739896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87171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807" y="4197096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AB8CC"/>
                </a:solidFill>
                <a:latin typeface="Aptos"/>
              </a:rPr>
              <a:t>Near Matches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82803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AB8CC"/>
                </a:solidFill>
                <a:latin typeface="Aptos"/>
              </a:rPr>
              <a:t>Matched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138928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ptos"/>
              </a:rPr>
              <a:t>• common 5-word phrase
• repeated technical sentence
• overlapping n-gram sequence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E7"/>
                </a:solidFill>
                <a:latin typeface="Aptos"/>
              </a:rPr>
              <a:t>SIMILARITY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Similarity Scoring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247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COMBINE MULTIPLE SIGNALS INTO A REVIEW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Exact phrase overlap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728216"/>
            <a:ext cx="5669280" cy="219456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1728216"/>
            <a:ext cx="5669280" cy="219456"/>
          </a:xfrm>
          <a:prstGeom prst="roundRect">
            <a:avLst/>
          </a:prstGeom>
          <a:solidFill>
            <a:srgbClr val="34D3E7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6916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4D3E7"/>
                </a:solidFill>
                <a:latin typeface="Aptos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41448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N-gram overlap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478024"/>
            <a:ext cx="5669280" cy="219456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2478024"/>
            <a:ext cx="4724400" cy="219456"/>
          </a:xfrm>
          <a:prstGeom prst="roundRect">
            <a:avLst/>
          </a:prstGeom>
          <a:solidFill>
            <a:srgbClr val="50DC96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44144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0DC96"/>
                </a:solidFill>
                <a:latin typeface="Aptos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91256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Cosine similarity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227832"/>
            <a:ext cx="5669280" cy="219456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46120" y="3227832"/>
            <a:ext cx="3779520" cy="219456"/>
          </a:xfrm>
          <a:prstGeom prst="roundRect">
            <a:avLst/>
          </a:prstGeom>
          <a:solidFill>
            <a:srgbClr val="A078FF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3191256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78FF"/>
                </a:solidFill>
                <a:latin typeface="Aptos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41064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Edit / near-match 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3977640"/>
            <a:ext cx="5669280" cy="219456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46120" y="3977640"/>
            <a:ext cx="2834640" cy="219456"/>
          </a:xfrm>
          <a:prstGeom prst="roundRect">
            <a:avLst/>
          </a:prstGeom>
          <a:solidFill>
            <a:srgbClr val="FACC5A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9410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FACC5A"/>
                </a:solidFill>
                <a:latin typeface="Aptos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690872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Frequency / keyword overlap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727448"/>
            <a:ext cx="5669280" cy="219456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46120" y="4727448"/>
            <a:ext cx="1889760" cy="219456"/>
          </a:xfrm>
          <a:prstGeom prst="roundRect">
            <a:avLst/>
          </a:prstGeom>
          <a:solidFill>
            <a:srgbClr val="F87171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46908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F87171"/>
                </a:solidFill>
                <a:latin typeface="Aptos"/>
              </a:rPr>
              <a:t>10%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1691640"/>
            <a:ext cx="1508760" cy="329184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68128" y="196596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B8CC"/>
                </a:solidFill>
                <a:latin typeface="Aptos"/>
              </a:rPr>
              <a:t>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8128" y="2487168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34D3E7"/>
                </a:solidFill>
                <a:latin typeface="Aptos"/>
              </a:rPr>
              <a:t>0–100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8128" y="3182112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Review
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8128" y="38862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0DC96"/>
                </a:solidFill>
                <a:latin typeface="Aptos"/>
              </a:rPr>
              <a:t>Configurable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6235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AB8CC"/>
                </a:solidFill>
                <a:latin typeface="Aptos"/>
              </a:rPr>
              <a:t>Illustrative formula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55778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Score = weighted combination of exact, phrase, semantic/vector and near-match signals.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E7"/>
                </a:solidFill>
                <a:latin typeface="Aptos"/>
              </a:rPr>
              <a:t>IMPLEMENTATION &amp;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Implementation &amp; User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247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FROM ANALYSIS ENGINE → A SIMPLE REVIEW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7315200" cy="452628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55648"/>
            <a:ext cx="6949440" cy="438912"/>
          </a:xfrm>
          <a:prstGeom prst="roundRect">
            <a:avLst/>
          </a:prstGeom>
          <a:solidFill>
            <a:srgbClr val="16263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65376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Plagiarism Detection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819656"/>
            <a:ext cx="822960" cy="347472"/>
          </a:xfrm>
          <a:prstGeom prst="round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Upload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19656"/>
            <a:ext cx="868680" cy="347472"/>
          </a:xfrm>
          <a:prstGeom prst="roundRect">
            <a:avLst/>
          </a:prstGeom>
          <a:solidFill>
            <a:srgbClr val="5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Compare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14600"/>
            <a:ext cx="3063240" cy="1143000"/>
          </a:xfrm>
          <a:prstGeom prst="roundRect">
            <a:avLst/>
          </a:prstGeom>
          <a:solidFill>
            <a:srgbClr val="08101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60520" y="2514600"/>
            <a:ext cx="3063240" cy="1143000"/>
          </a:xfrm>
          <a:prstGeom prst="roundRect">
            <a:avLst/>
          </a:prstGeom>
          <a:solidFill>
            <a:srgbClr val="08101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24912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D3E7"/>
                </a:solidFill>
                <a:latin typeface="Aptos"/>
              </a:rPr>
              <a:t>REFERENCE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906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source.txt / source.pdf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724912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0DC96"/>
                </a:solidFill>
                <a:latin typeface="Aptos"/>
              </a:rPr>
              <a:t>SUBMITTED 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906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submission.txt / 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77639"/>
            <a:ext cx="6400800" cy="1508760"/>
          </a:xfrm>
          <a:prstGeom prst="roundRect">
            <a:avLst/>
          </a:prstGeom>
          <a:solidFill>
            <a:srgbClr val="08101E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0624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AB8CC"/>
                </a:solidFill>
                <a:latin typeface="Aptos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26280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A078FF"/>
                </a:solidFill>
                <a:latin typeface="Aptos"/>
              </a:rPr>
              <a:t>78.4%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562856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ACC5A"/>
                </a:solidFill>
                <a:latin typeface="Aptos"/>
              </a:rPr>
              <a:t>HIGH SIMILARITY — REVIEW RECOMMENDED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956048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Matched passages highlighted with source position / match type.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508760"/>
            <a:ext cx="3474720" cy="452628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E7"/>
                </a:solidFill>
                <a:latin typeface="Aptos"/>
              </a:rPr>
              <a:t>TECHNOLOGY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3317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D3E7"/>
                </a:solidFill>
                <a:latin typeface="Aptos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3317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86207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0DC96"/>
                </a:solidFill>
                <a:latin typeface="Aptos"/>
              </a:rPr>
              <a:t>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86207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Java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3924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78FF"/>
                </a:solidFill>
                <a:latin typeface="Aptos"/>
              </a:rPr>
              <a:t>Algorithms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392424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KMP • Rabin-Karp • N-Gram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922775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ACC5A"/>
                </a:solidFill>
                <a:latin typeface="Aptos"/>
              </a:rPr>
              <a:t>Similarity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922775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Cosine • Edit Distance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453127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7171"/>
                </a:solidFill>
                <a:latin typeface="Aptos"/>
              </a:rPr>
              <a:t>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453127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MySQL / JDBC (if required)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983479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Tools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983479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VS Code • Git • GitHub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E7"/>
                </a:solidFill>
                <a:latin typeface="Aptos"/>
              </a:rPr>
              <a:t>ALGORITHM RESULT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Algorithm Result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247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A SAMPLE OUTPUT FOR DEMONSTRATION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6492240" cy="452628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234440" cy="347472"/>
          </a:xfrm>
          <a:prstGeom prst="round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KMP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865376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5 exact phrase matches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14600"/>
            <a:ext cx="1234440" cy="347472"/>
          </a:xfrm>
          <a:prstGeom prst="roundRect">
            <a:avLst/>
          </a:prstGeom>
          <a:solidFill>
            <a:srgbClr val="5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N-Gram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551176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4 phrase overlaps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00400"/>
            <a:ext cx="1234440" cy="347472"/>
          </a:xfrm>
          <a:prstGeom prst="roundRect">
            <a:avLst/>
          </a:prstGeom>
          <a:solidFill>
            <a:srgbClr val="FAC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Edit 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236976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2 near matches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1234440" cy="347472"/>
          </a:xfrm>
          <a:prstGeom prst="round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HashMap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922776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18 repeated keywords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72000"/>
            <a:ext cx="1234440" cy="347472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8101E"/>
                </a:solidFill>
                <a:latin typeface="Aptos"/>
              </a:rPr>
              <a:t>Cosine Similarity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608576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78.42% vector similarity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554480"/>
            <a:ext cx="4251960" cy="452628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1874519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B8CC"/>
                </a:solidFill>
                <a:latin typeface="Aptos"/>
              </a:rPr>
              <a:t>FINAL REVIEW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4231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34D3E7"/>
                </a:solidFill>
                <a:latin typeface="Aptos"/>
              </a:rPr>
              <a:t>78.42%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3375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ACC5A"/>
                </a:solidFill>
                <a:latin typeface="Aptos"/>
              </a:rPr>
              <a:t>HIGH SIMILARITY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06908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B8CC"/>
                </a:solidFill>
                <a:latin typeface="Aptos"/>
              </a:rPr>
              <a:t>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48056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Flag for manual review
and inspect matched passages.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26364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AB8CC"/>
                </a:solidFill>
                <a:latin typeface="Aptos"/>
              </a:rPr>
              <a:t>Note: values are illustrative and should be replaced with actual project test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E7"/>
                </a:solidFill>
                <a:latin typeface="Aptos"/>
              </a:rPr>
              <a:t>REMAINING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Remaining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247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FROM PROGRESS TO A COMPLETE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212080" cy="896112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28216"/>
            <a:ext cx="1783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D3E7"/>
                </a:solidFill>
                <a:latin typeface="Aptos"/>
              </a:rPr>
              <a:t>Input robustness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0992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Support more document formats and large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12080" cy="896112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728216"/>
            <a:ext cx="1783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0DC96"/>
                </a:solidFill>
                <a:latin typeface="Aptos"/>
              </a:rPr>
              <a:t>Algorithm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70992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Connect all matching methods to one scoring pipeline.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5212080" cy="896112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871216"/>
            <a:ext cx="1783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D3E7"/>
                </a:solidFill>
                <a:latin typeface="Aptos"/>
              </a:rPr>
              <a:t>Threshold 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5292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Test low / medium / high similarity cases.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743200"/>
            <a:ext cx="5212080" cy="896112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871216"/>
            <a:ext cx="1783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0DC96"/>
                </a:solidFill>
                <a:latin typeface="Aptos"/>
              </a:rPr>
              <a:t>False-positive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5292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Separate common phrases from genuinely suspicious overlap.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86200"/>
            <a:ext cx="5212080" cy="896112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4014215"/>
            <a:ext cx="1783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D3E7"/>
                </a:solidFill>
                <a:latin typeface="Aptos"/>
              </a:rPr>
              <a:t>Database &amp;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99592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Store documents, results and reports when persistence is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86200"/>
            <a:ext cx="5212080" cy="896112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4014215"/>
            <a:ext cx="1783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0DC96"/>
                </a:solidFill>
                <a:latin typeface="Aptos"/>
              </a:rPr>
              <a:t>Final UI polish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99592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Highlight matched text and make the report easy to interpret.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29200"/>
            <a:ext cx="5212080" cy="896112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5157216"/>
            <a:ext cx="1783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D3E7"/>
                </a:solidFill>
                <a:latin typeface="Aptos"/>
              </a:rPr>
              <a:t>Testing &amp;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13892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Build a test set with original, copied and paraphrased samples.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ACC5A"/>
                </a:solidFill>
                <a:latin typeface="Aptos"/>
              </a:rPr>
              <a:t>FINAL REVIEW → validated accuracy, stable performance, clear evidence and deployment-ready interface.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4D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E7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C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247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A SMARTER WAY TO DETECT TEXTUAL SIMILARITY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606040" cy="25603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4D3E7"/>
                </a:solidFill>
                <a:latin typeface="Aptos"/>
              </a:rPr>
              <a:t>Efficient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148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DSA-based matching reduces unnecessary comparison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606040" cy="25603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14884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0DC96"/>
                </a:solidFill>
                <a:latin typeface="Aptos"/>
              </a:rPr>
              <a:t>Multi-Signal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2148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Exact, phrase, near-match and vector similarity complement one another.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2606040" cy="25603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078FF"/>
                </a:solidFill>
                <a:latin typeface="Aptos"/>
              </a:rPr>
              <a:t>Explainable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2148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The system reports matched passages instead of showing only a number.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828800"/>
            <a:ext cx="2606040" cy="2560320"/>
          </a:xfrm>
          <a:prstGeom prst="roundRect">
            <a:avLst/>
          </a:prstGeom>
          <a:solidFill>
            <a:srgbClr val="111D30"/>
          </a:solidFill>
          <a:ln w="10160">
            <a:solidFill>
              <a:srgbClr val="28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14884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ACC5A"/>
                </a:solidFill>
                <a:latin typeface="Aptos"/>
              </a:rPr>
              <a:t>Actionable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834640"/>
            <a:ext cx="2148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High similarity can be flagged for human review with supporting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B8CC"/>
                </a:solidFill>
                <a:latin typeface="Aptos"/>
              </a:rPr>
              <a:t>PROJECT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800600"/>
            <a:ext cx="8503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A Java-based plagiarism detection system that turns raw documents into measurable, reviewable similarity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4D3E7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